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presentation on the AI-Driven Customer Satisfaction project for British Airways.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problem is the volume of unstructured text data that is currently impossible to analyze manually in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objectives span from basic NLP to advanced generative AI to provide a holistic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architecture diagram illustrates the end-to-end event-driven workflow using AWS serverless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utilized a strict serverless approach to ensure cost-efficiency and horizontal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 pipeline is a multi-stage process starting from raw text and ending in actionable generative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backend is fully serverless. Here we see the deployed Lambda functions that process incoming text in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explored SageMaker for robust model training and Bedrock for providing the generative AI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brings the AWS backend to life, providing customer service agents with a simple, powerful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screenshot shows the system in action, predicting sentiment, CSAT, and providing a Gen AI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encountered several architectural challenges, specifically around serverless constraints, which were solved using S3.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solution provides immediate ROI by reducing manual labor and paving the way for full CRM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the project successfully meets all academic and technical requirements.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solidFill>
                  <a:srgbClr val="0B1F40"/>
                </a:solidFill>
              </a:defRPr>
            </a:pPr>
            <a:r>
              <a:t>AI-Driven Predictive Customer Satisfaction and Personalized Experience Recommendations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British Airways Case Study</a:t>
            </a:r>
          </a:p>
          <a:p>
            <a:r>
              <a:t>Student: Gurroop Singh</a:t>
            </a:r>
          </a:p>
          <a:p>
            <a:r>
              <a:t>GitHub: github.com/gurroopsingh/british-airways-ai-csat-system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40"/>
                </a:solidFill>
                <a:latin typeface="Helvetica Neue"/>
              </a:defRPr>
            </a:pPr>
            <a:r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Arial"/>
              </a:defRPr>
            </a:pPr>
            <a:r>
              <a:t>British Airways processes thousands of reviews daily.</a:t>
            </a:r>
          </a:p>
          <a:p>
            <a:pPr>
              <a:defRPr sz="1800">
                <a:latin typeface="Arial"/>
              </a:defRPr>
            </a:pPr>
            <a:r>
              <a:t>Manual analysis is time-consuming, inefficient, and prone to error.</a:t>
            </a:r>
          </a:p>
          <a:p>
            <a:pPr>
              <a:defRPr sz="1800">
                <a:latin typeface="Arial"/>
              </a:defRPr>
            </a:pPr>
            <a:r>
              <a:t>Crucial pain points (delays, baggage, food) are often missed or addressed too late.</a:t>
            </a:r>
          </a:p>
          <a:p>
            <a:pPr>
              <a:defRPr sz="1800">
                <a:latin typeface="Arial"/>
              </a:defRPr>
            </a:pPr>
            <a:r>
              <a:t>Lack of real-time insights leads to a negative customer experience and potential brand damage.</a:t>
            </a:r>
          </a:p>
          <a:p>
            <a:pPr>
              <a:defRPr sz="1800">
                <a:latin typeface="Arial"/>
              </a:defRPr>
            </a:pPr>
            <a:r>
              <a:t>Need for an automated, AI-driven platform to categorize feedback and propose immediate recovery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40"/>
                </a:solidFill>
                <a:latin typeface="Helvetica Neue"/>
              </a:defRPr>
            </a:pPr>
            <a:r>
              <a:t>3.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Arial"/>
              </a:defRPr>
            </a:pPr>
            <a:r>
              <a:t>Automate Sentiment Analysis to determine review polarity.</a:t>
            </a:r>
          </a:p>
          <a:p>
            <a:pPr>
              <a:defRPr sz="1800">
                <a:latin typeface="Arial"/>
              </a:defRPr>
            </a:pPr>
            <a:r>
              <a:t>Develop a Machine Learning model to predict Customer Satisfaction (CSAT) scores continuously.</a:t>
            </a:r>
          </a:p>
          <a:p>
            <a:pPr>
              <a:defRPr sz="1800">
                <a:latin typeface="Arial"/>
              </a:defRPr>
            </a:pPr>
            <a:r>
              <a:t>Implement Topic Modeling to extract dominant themes from feedback.</a:t>
            </a:r>
          </a:p>
          <a:p>
            <a:pPr>
              <a:defRPr sz="1800">
                <a:latin typeface="Arial"/>
              </a:defRPr>
            </a:pPr>
            <a:r>
              <a:t>Create an AI-driven Recommendation Engine to suggest service recovery actions.</a:t>
            </a:r>
          </a:p>
          <a:p>
            <a:pPr>
              <a:defRPr sz="1800">
                <a:latin typeface="Arial"/>
              </a:defRPr>
            </a:pPr>
            <a:r>
              <a:t>Build a centralized, interactive dashboard for live analysis by customer service teams.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40"/>
                </a:solidFill>
                <a:latin typeface="Helvetica Neue"/>
              </a:defRPr>
            </a:pPr>
            <a:r>
              <a:t>4.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66580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40"/>
                </a:solidFill>
                <a:latin typeface="Helvetica Neue"/>
              </a:defRPr>
            </a:pPr>
            <a:r>
              <a:t>5. AWS Services Configured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Arial"/>
              </a:defRPr>
            </a:pPr>
            <a:r>
              <a:t>Amazon S3: Data lake for raw/processed datasets and model artifacts.</a:t>
            </a:r>
          </a:p>
          <a:p>
            <a:pPr>
              <a:defRPr sz="1800">
                <a:latin typeface="Arial"/>
              </a:defRPr>
            </a:pPr>
            <a:r>
              <a:t>AWS Lambda: Serverless compute for sentiment, prediction, and recommendations.</a:t>
            </a:r>
          </a:p>
          <a:p>
            <a:pPr>
              <a:defRPr sz="1800">
                <a:latin typeface="Arial"/>
              </a:defRPr>
            </a:pPr>
            <a:r>
              <a:t>Amazon API Gateway: Exposes Lambda functions as REST APIs.</a:t>
            </a:r>
          </a:p>
          <a:p>
            <a:pPr>
              <a:defRPr sz="1800">
                <a:latin typeface="Arial"/>
              </a:defRPr>
            </a:pPr>
            <a:r>
              <a:t>Amazon SageMaker: Experimental notebook environments for model training.</a:t>
            </a:r>
          </a:p>
          <a:p>
            <a:pPr>
              <a:defRPr sz="1800">
                <a:latin typeface="Arial"/>
              </a:defRPr>
            </a:pPr>
            <a:r>
              <a:t>Amazon Bedrock: Explored for generative AI recovery recommendations.</a:t>
            </a:r>
          </a:p>
          <a:p>
            <a:pPr>
              <a:defRPr sz="1800">
                <a:latin typeface="Arial"/>
              </a:defRPr>
            </a:pPr>
            <a:r>
              <a:t>Amazon CloudWatch: Monitoring and logging for Lambda functions.</a:t>
            </a:r>
          </a:p>
          <a:p>
            <a:pPr>
              <a:defRPr sz="1800">
                <a:latin typeface="Arial"/>
              </a:defRPr>
            </a:pPr>
            <a:r>
              <a:t>Streamlit: Frontend interactive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40"/>
                </a:solidFill>
                <a:latin typeface="Helvetica Neue"/>
              </a:defRPr>
            </a:pPr>
            <a:r>
              <a:t>6. Data Processing and AI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Arial"/>
              </a:defRPr>
            </a:pPr>
            <a:r>
              <a:t>Data Preprocessing: Tokenization, lemmatization, and TF-IDF vectorization.</a:t>
            </a:r>
          </a:p>
          <a:p>
            <a:pPr>
              <a:defRPr sz="1800">
                <a:latin typeface="Arial"/>
              </a:defRPr>
            </a:pPr>
            <a:r>
              <a:t>Sentiment Analysis: VADER algorithm deployed for rapid zero-shot polarity classification.</a:t>
            </a:r>
          </a:p>
          <a:p>
            <a:pPr>
              <a:defRPr sz="1800">
                <a:latin typeface="Arial"/>
              </a:defRPr>
            </a:pPr>
            <a:r>
              <a:t>CSAT Prediction: Random Forest &amp; XGBoost models predicting continuous satisfaction ratings.</a:t>
            </a:r>
          </a:p>
          <a:p>
            <a:pPr>
              <a:defRPr sz="1800">
                <a:latin typeface="Arial"/>
              </a:defRPr>
            </a:pPr>
            <a:r>
              <a:t>Topic Modeling: BERTopic evaluated locally to cluster actionable insights.</a:t>
            </a:r>
          </a:p>
          <a:p>
            <a:pPr>
              <a:defRPr sz="1800">
                <a:latin typeface="Arial"/>
              </a:defRPr>
            </a:pPr>
            <a:r>
              <a:t>Generative Recommendations: Prompt engineering tailored for Claude foundation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40"/>
                </a:solidFill>
                <a:latin typeface="Helvetica Neue"/>
              </a:defRPr>
            </a:pPr>
            <a:r>
              <a:t>7. Serverless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/>
          <a:p>
            <a:pPr>
              <a:defRPr sz="1800">
                <a:latin typeface="Arial"/>
              </a:defRPr>
            </a:pPr>
            <a:r>
              <a:t>Deployed three distinct AWS Lambda functions.</a:t>
            </a:r>
          </a:p>
          <a:p>
            <a:pPr>
              <a:defRPr sz="1800">
                <a:latin typeface="Arial"/>
              </a:defRPr>
            </a:pPr>
            <a:r>
              <a:t>Integrated securely via Amazon API Gateway.</a:t>
            </a:r>
          </a:p>
          <a:p>
            <a:pPr>
              <a:defRPr sz="1800">
                <a:latin typeface="Arial"/>
              </a:defRPr>
            </a:pPr>
            <a:r>
              <a:t>Observability achieved through Amazon CloudWatch logs.</a:t>
            </a:r>
          </a:p>
        </p:txBody>
      </p:sp>
      <p:pic>
        <p:nvPicPr>
          <p:cNvPr id="4" name="Picture 3" descr="aws_lambda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18578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40"/>
                </a:solidFill>
                <a:latin typeface="Helvetica Neue"/>
              </a:defRPr>
            </a:pPr>
            <a:r>
              <a:t>8. SageMaker and Bedrock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/>
          <a:p>
            <a:pPr>
              <a:defRPr sz="1800">
                <a:latin typeface="Arial"/>
              </a:defRPr>
            </a:pPr>
            <a:r>
              <a:t>SageMaker utilized for notebook-based evaluation of Random Forest models.</a:t>
            </a:r>
          </a:p>
          <a:p>
            <a:pPr>
              <a:defRPr sz="1800">
                <a:latin typeface="Arial"/>
              </a:defRPr>
            </a:pPr>
            <a:r>
              <a:t>Bedrock configured to explore prompt engineering with Anthropic Claude.</a:t>
            </a:r>
          </a:p>
          <a:p>
            <a:pPr>
              <a:defRPr sz="1800">
                <a:latin typeface="Arial"/>
              </a:defRPr>
            </a:pPr>
            <a:r>
              <a:t>Designed to return highly professional recovery actions.</a:t>
            </a:r>
          </a:p>
        </p:txBody>
      </p:sp>
      <p:pic>
        <p:nvPicPr>
          <p:cNvPr id="4" name="Picture 3" descr="aws_bedrock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1849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40"/>
                </a:solidFill>
                <a:latin typeface="Helvetica Neue"/>
              </a:defRPr>
            </a:pPr>
            <a:r>
              <a:t>9. Streamlit Dashboard and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/>
          <a:p>
            <a:pPr>
              <a:defRPr sz="1800">
                <a:latin typeface="Arial"/>
              </a:defRPr>
            </a:pPr>
            <a:r>
              <a:t>Unified interface for business users.</a:t>
            </a:r>
          </a:p>
          <a:p>
            <a:pPr>
              <a:defRPr sz="1800">
                <a:latin typeface="Arial"/>
              </a:defRPr>
            </a:pPr>
            <a:r>
              <a:t>Live Prediction Panel for instant review analysis.</a:t>
            </a:r>
          </a:p>
          <a:p>
            <a:pPr>
              <a:defRPr sz="1800">
                <a:latin typeface="Arial"/>
              </a:defRPr>
            </a:pPr>
            <a:r>
              <a:t>Visualizes sentiment, topics, and CSAT scores.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18611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40"/>
                </a:solidFill>
                <a:latin typeface="Helvetica Neue"/>
              </a:defRPr>
            </a:pPr>
            <a:r>
              <a:t>9a. Live Prediction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live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33500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40"/>
                </a:solidFill>
                <a:latin typeface="Helvetica Neue"/>
              </a:defRPr>
            </a:pPr>
            <a:r>
              <a:t>10. 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Arial"/>
              </a:defRPr>
            </a:pPr>
            <a:r>
              <a:t>Challenge: AWS Lambda deployment package size limits with large ML models.</a:t>
            </a:r>
          </a:p>
          <a:p>
            <a:pPr>
              <a:defRPr sz="1800">
                <a:latin typeface="Arial"/>
              </a:defRPr>
            </a:pPr>
            <a:r>
              <a:t>Solution: Serialized models (joblib) to S3, loaded dynamically at runtime.</a:t>
            </a:r>
          </a:p>
          <a:p>
            <a:pPr>
              <a:defRPr sz="1800">
                <a:latin typeface="Arial"/>
              </a:defRPr>
            </a:pPr>
            <a:r>
              <a:t>Challenge: CORS configuration in API Gateway.</a:t>
            </a:r>
          </a:p>
          <a:p>
            <a:pPr>
              <a:defRPr sz="1800">
                <a:latin typeface="Arial"/>
              </a:defRPr>
            </a:pPr>
            <a:r>
              <a:t>Solution: Explicitly defined Access-Control-Allow-Origin headers in Lambda proxies.</a:t>
            </a:r>
          </a:p>
          <a:p>
            <a:pPr>
              <a:defRPr sz="1800">
                <a:latin typeface="Arial"/>
              </a:defRPr>
            </a:pPr>
            <a:r>
              <a:t>Challenge: Ensuring professional Gen AI outputs.</a:t>
            </a:r>
          </a:p>
          <a:p>
            <a:pPr>
              <a:defRPr sz="1800">
                <a:latin typeface="Arial"/>
              </a:defRPr>
            </a:pPr>
            <a:r>
              <a:t>Solution: Extensive prompt engineering explicitly defining the persona as a BA agent.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40"/>
                </a:solidFill>
                <a:latin typeface="Helvetica Neue"/>
              </a:defRPr>
            </a:pPr>
            <a:r>
              <a:t>11. Business Impact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Arial"/>
              </a:defRPr>
            </a:pPr>
            <a:r>
              <a:t>Business Impact:</a:t>
            </a:r>
          </a:p>
          <a:p>
            <a:pPr>
              <a:defRPr sz="1800">
                <a:latin typeface="Arial"/>
              </a:defRPr>
            </a:pPr>
            <a:r>
              <a:t>- Massively reduces manual triaging time.</a:t>
            </a:r>
          </a:p>
          <a:p>
            <a:pPr>
              <a:defRPr sz="1800">
                <a:latin typeface="Arial"/>
              </a:defRPr>
            </a:pPr>
            <a:r>
              <a:t>- Increases customer loyalty through faster, more tailored responses.</a:t>
            </a:r>
          </a:p>
          <a:p>
            <a:pPr>
              <a:defRPr sz="1800">
                <a:latin typeface="Arial"/>
              </a:defRPr>
            </a:pPr>
            <a:r>
              <a:t>Future Enhancements:</a:t>
            </a:r>
          </a:p>
          <a:p>
            <a:pPr>
              <a:defRPr sz="1800">
                <a:latin typeface="Arial"/>
              </a:defRPr>
            </a:pPr>
            <a:r>
              <a:t>- Fine-tune custom LLMs on historical BA resolution data.</a:t>
            </a:r>
          </a:p>
          <a:p>
            <a:pPr>
              <a:defRPr sz="1800">
                <a:latin typeface="Arial"/>
              </a:defRPr>
            </a:pPr>
            <a:r>
              <a:t>- Implement Infrastructure as Code (IaC) using Terraform.</a:t>
            </a:r>
          </a:p>
          <a:p>
            <a:pPr>
              <a:defRPr sz="1800">
                <a:latin typeface="Arial"/>
              </a:defRPr>
            </a:pPr>
            <a:r>
              <a:t>- Direct integration into ticketing CRMs.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40"/>
                </a:solidFill>
                <a:latin typeface="Helvetica Neue"/>
              </a:defRPr>
            </a:pPr>
            <a:r>
              <a:t>12.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Arial"/>
              </a:defRPr>
            </a:pPr>
            <a:r>
              <a:t>Successfully provisioned AWS serverless infrastructure.</a:t>
            </a:r>
          </a:p>
          <a:p>
            <a:pPr>
              <a:defRPr sz="1800">
                <a:latin typeface="Arial"/>
              </a:defRPr>
            </a:pPr>
            <a:r>
              <a:t>Integrated NLP and Machine Learning for predictive analytics.</a:t>
            </a:r>
          </a:p>
          <a:p>
            <a:pPr>
              <a:defRPr sz="1800">
                <a:latin typeface="Arial"/>
              </a:defRPr>
            </a:pPr>
            <a:r>
              <a:t>Configured Generative AI for actionable business value.</a:t>
            </a:r>
          </a:p>
          <a:p>
            <a:pPr>
              <a:defRPr sz="1800">
                <a:latin typeface="Arial"/>
              </a:defRPr>
            </a:pPr>
            <a:r>
              <a:t>Delivered a polished, interactive frontend.</a:t>
            </a:r>
          </a:p>
          <a:p>
            <a:pPr>
              <a:defRPr sz="1800">
                <a:latin typeface="Arial"/>
              </a:defRPr>
            </a:pPr>
          </a:p>
          <a:p>
            <a:pPr>
              <a:defRPr sz="1800">
                <a:latin typeface="Arial"/>
              </a:defRPr>
            </a:pPr>
            <a:r>
              <a:t>GitHub Repository:</a:t>
            </a:r>
          </a:p>
          <a:p>
            <a:pPr>
              <a:defRPr sz="1800">
                <a:latin typeface="Arial"/>
              </a:defRPr>
            </a:pPr>
            <a:r>
              <a:t>github.com/gurroopsingh/british-airways-ai-csat-system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
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This presentation covers the AI-Driven Customer Satisfaction project for British Airways built on AWS.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 faces massive volume of unstructured feedback. Manual triage misses critical issues.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core objectives spanning NLP, ML, GenAI, and interactive visualization.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architecture diagram shows the full pipeline: S3 storage, Lambda compute, API Gateway routing, SageMaker training, Bedrock GenAI, and Streamlit frontend.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used seven AWS services. SageMaker for notebook experimentation, Bedrock explored for GenAI.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pipeline flows from raw text through preprocessing, sentiment analysis, CSAT prediction, topic extraction, and finally GenAI 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Lambda functions deployed, API Gateway configured for REST routing, CloudWatch capturing execution logs.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SageMaker used for notebook-based model training. Bedrock configured to explore Anthropic Claude for recommendation generation.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Streamlit dashboard unifies all capabilities. Agents can submit reviews for instant sentiment, CSAT, and topic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challenges around Lambda sizing, CORS, and GenAI output quality were systematically resolved.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project delivers immediate ROI through automation and sets a strong foundation for future enhancements.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the audience. Summarize key achievements and invite questions. Direct to GitHub for source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50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AI-Driven Predictive Customer Satisfaction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38BDF8"/>
                </a:solidFill>
                <a:latin typeface="Calibri"/>
              </a:defRPr>
            </a:pPr>
            <a:r>
              <a:t>Personalized Experience Recommendations for British Airways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926080"/>
            <a:ext cx="2743200" cy="45720"/>
          </a:xfrm>
          <a:prstGeom prst="rect">
            <a:avLst/>
          </a:prstGeom>
          <a:solidFill>
            <a:srgbClr val="E50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200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BD5E1"/>
                </a:solidFill>
                <a:latin typeface="Calibri"/>
              </a:defRPr>
            </a:pPr>
            <a:r>
              <a:t>Gurroop Singh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Course Project — Build AI with AWS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8BDF8"/>
                </a:solidFill>
                <a:latin typeface="Calibri"/>
              </a:defRPr>
            </a:pPr>
            <a:r>
              <a:t>github.com/gurroopsingh/british-airways-ai-csat-system</a:t>
            </a:r>
          </a:p>
        </p:txBody>
      </p:sp>
      <p:pic>
        <p:nvPicPr>
          <p:cNvPr id="9" name="Picture 8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3200400"/>
            <a:ext cx="3474720" cy="361437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45720"/>
          </a:xfrm>
          <a:prstGeom prst="rect">
            <a:avLst/>
          </a:prstGeom>
          <a:solidFill>
            <a:srgbClr val="E50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Why does British Airways need AI-driven feedback analysis?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011680"/>
            <a:ext cx="260604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8BDF8"/>
                </a:solidFill>
                <a:latin typeface="Calibri"/>
              </a:defRPr>
            </a:pPr>
            <a:r>
              <a:t>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974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Volume Overload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Thousands of reviews daily impossible to process manually.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011680"/>
            <a:ext cx="260604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19456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8BDF8"/>
                </a:solidFill>
                <a:latin typeface="Calibri"/>
              </a:defRPr>
            </a:pPr>
            <a:r>
              <a:t>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6974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Delayed Response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306324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Critical issues like delays and baggage go unresolved for too long.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011680"/>
            <a:ext cx="260604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19456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8BDF8"/>
                </a:solidFill>
                <a:latin typeface="Calibri"/>
              </a:defRPr>
            </a:pPr>
            <a:r>
              <a:t>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6974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No Insight Extraction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06324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Pain points in food, service, and seating are buried in free text.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2011680"/>
            <a:ext cx="2606040" cy="18288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219456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8BDF8"/>
                </a:solidFill>
                <a:latin typeface="Calibri"/>
              </a:defRPr>
            </a:pPr>
            <a:r>
              <a:t>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269748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Generic Responses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306324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No personalized recovery actions tailored to specific complaints.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572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50A35"/>
                </a:solidFill>
                <a:latin typeface="Calibri"/>
              </a:defRPr>
            </a:pPr>
            <a:r>
              <a:t>Result: Poor customer loyalty, operational inefficiency, and brand damage.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Project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45720"/>
          </a:xfrm>
          <a:prstGeom prst="rect">
            <a:avLst/>
          </a:prstGeom>
          <a:solidFill>
            <a:srgbClr val="E50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205740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8BDF8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51460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Sentiment</a:t>
            </a:r>
            <a:br/>
            <a:r>
              <a:t>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88036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Classify review</a:t>
            </a:r>
            <a:br/>
            <a:r>
              <a:t>polarity automatically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828800"/>
            <a:ext cx="205740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2011680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8BDF8"/>
                </a:solidFill>
                <a:latin typeface="Calibri"/>
              </a:defRPr>
            </a:pPr>
            <a:r>
              <a:t>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251460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CSAT</a:t>
            </a:r>
            <a:br/>
            <a:r>
              <a:t>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88036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Predict satisfaction</a:t>
            </a:r>
            <a:br/>
            <a:r>
              <a:t>scores (1–5)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1828800"/>
            <a:ext cx="205740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0" y="2011680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8BDF8"/>
                </a:solidFill>
                <a:latin typeface="Calibri"/>
              </a:defRPr>
            </a:pPr>
            <a:r>
              <a:t>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251460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Topic</a:t>
            </a:r>
            <a:br/>
            <a:r>
              <a:t>Modeling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288036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Extract recurring</a:t>
            </a:r>
            <a:br/>
            <a:r>
              <a:t>themes from text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1828800"/>
            <a:ext cx="205740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0" y="2011680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8BDF8"/>
                </a:solidFill>
                <a:latin typeface="Calibri"/>
              </a:defRPr>
            </a:pPr>
            <a:r>
              <a:t>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360" y="251460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Recommendation</a:t>
            </a:r>
            <a:br/>
            <a:r>
              <a:t>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288036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Generate AI-driven</a:t>
            </a:r>
            <a:br/>
            <a:r>
              <a:t>recovery actions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0" y="1828800"/>
            <a:ext cx="2057400" cy="20116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0" y="2011680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8BDF8"/>
                </a:solidFill>
                <a:latin typeface="Calibri"/>
              </a:defRPr>
            </a:pPr>
            <a:r>
              <a:t>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38360" y="251460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Interactive</a:t>
            </a:r>
            <a:br/>
            <a:r>
              <a:t>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60" y="288036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Streamlit interface</a:t>
            </a:r>
            <a:br/>
            <a:r>
              <a:t>for live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End-to-End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45720"/>
          </a:xfrm>
          <a:prstGeom prst="rect">
            <a:avLst/>
          </a:prstGeom>
          <a:solidFill>
            <a:srgbClr val="E50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Event-driven serverless workflow on AWS</a:t>
            </a:r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45920"/>
            <a:ext cx="9418320" cy="97968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AWS Services Configured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45720"/>
          </a:xfrm>
          <a:prstGeom prst="rect">
            <a:avLst/>
          </a:prstGeom>
          <a:solidFill>
            <a:srgbClr val="E50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2606040" cy="17373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8BDF8"/>
                </a:solidFill>
                <a:latin typeface="Calibri"/>
              </a:defRPr>
            </a:pPr>
            <a:r>
              <a:t>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5146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Amazon S3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88036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Data lake for datasets</a:t>
            </a:r>
            <a:br/>
            <a:r>
              <a:t>and model artifacts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828800"/>
            <a:ext cx="2606040" cy="17373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01168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8BDF8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5146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AWS Lambda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88036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Serverless compute</a:t>
            </a:r>
            <a:br/>
            <a:r>
              <a:t>for API logic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828800"/>
            <a:ext cx="2606040" cy="17373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01168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8BDF8"/>
                </a:solidFill>
                <a:latin typeface="Calibri"/>
              </a:defRPr>
            </a:pPr>
            <a:r>
              <a:t>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5146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API Gateway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88036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REST API routing</a:t>
            </a:r>
            <a:br/>
            <a:r>
              <a:t>to Lambda functions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61120" y="1828800"/>
            <a:ext cx="2606040" cy="17373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201168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8BDF8"/>
                </a:solidFill>
                <a:latin typeface="Calibri"/>
              </a:defRPr>
            </a:pPr>
            <a:r>
              <a:t>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5146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SageMaker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288036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Notebook-based model</a:t>
            </a:r>
            <a:br/>
            <a:r>
              <a:t>training &amp; evaluation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931920"/>
            <a:ext cx="2606040" cy="17373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11480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8BDF8"/>
                </a:solidFill>
                <a:latin typeface="Calibri"/>
              </a:defRPr>
            </a:pPr>
            <a:r>
              <a:t>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6177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Bedrock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498348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GenAI explored for</a:t>
            </a:r>
            <a:br/>
            <a:r>
              <a:t>recommendation generation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40" y="3931920"/>
            <a:ext cx="2606040" cy="17373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66160" y="411480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8BDF8"/>
                </a:solidFill>
                <a:latin typeface="Calibri"/>
              </a:defRPr>
            </a:pPr>
            <a:r>
              <a:t>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46177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CloudWatch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498348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Monitoring and</a:t>
            </a:r>
            <a:br/>
            <a:r>
              <a:t>logging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3931920"/>
            <a:ext cx="2606040" cy="17373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4114800"/>
            <a:ext cx="2057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8BDF8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461772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Streamlit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4983480"/>
            <a:ext cx="2331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Interactive frontend</a:t>
            </a:r>
            <a:br/>
            <a:r>
              <a:t>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AI Processing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45720"/>
          </a:xfrm>
          <a:prstGeom prst="rect">
            <a:avLst/>
          </a:prstGeom>
          <a:solidFill>
            <a:srgbClr val="E50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Multi-stage NLP and ML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560320"/>
            <a:ext cx="169164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508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Raw</a:t>
            </a:r>
            <a:br/>
            <a:r>
              <a:t>Reviews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103120" y="3063240"/>
            <a:ext cx="182880" cy="27432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286000" y="2560320"/>
            <a:ext cx="169164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77440" y="2743200"/>
            <a:ext cx="1508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Preprocessing</a:t>
            </a:r>
            <a:br/>
            <a:r>
              <a:t>&amp; TF-IDF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23360" y="3063240"/>
            <a:ext cx="182880" cy="27432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06240" y="2560320"/>
            <a:ext cx="169164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2743200"/>
            <a:ext cx="1508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Sentiment</a:t>
            </a:r>
            <a:br/>
            <a:r>
              <a:t>(VADER)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943600" y="3063240"/>
            <a:ext cx="182880" cy="27432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6480" y="2560320"/>
            <a:ext cx="169164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743200"/>
            <a:ext cx="1508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CSAT Predict</a:t>
            </a:r>
            <a:br/>
            <a:r>
              <a:t>(RF/XGB)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863840" y="3063240"/>
            <a:ext cx="182880" cy="27432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46720" y="2560320"/>
            <a:ext cx="1691640" cy="13716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2743200"/>
            <a:ext cx="1508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Topic Model</a:t>
            </a:r>
            <a:br/>
            <a:r>
              <a:t>(BERTopic)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784080" y="3063240"/>
            <a:ext cx="182880" cy="274320"/>
          </a:xfrm>
          <a:prstGeom prst="rightArrow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966960" y="2560320"/>
            <a:ext cx="1691640" cy="1371600"/>
          </a:xfrm>
          <a:prstGeom prst="roundRect">
            <a:avLst/>
          </a:prstGeom>
          <a:solidFill>
            <a:srgbClr val="32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0" y="2743200"/>
            <a:ext cx="1508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GenAI</a:t>
            </a:r>
            <a:br/>
            <a:r>
              <a:t>Recommend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Each stage is encapsulated in a dedicated Lambda function for independent scaling.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Serverless Deployment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45720"/>
          </a:xfrm>
          <a:prstGeom prst="rect">
            <a:avLst/>
          </a:prstGeom>
          <a:solidFill>
            <a:srgbClr val="E50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AWS Lambda + API Gateway + CloudWatch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5303520" cy="47548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ws_lambda_fun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4937760" cy="222945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17920" y="1645920"/>
            <a:ext cx="5303520" cy="21945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ws_api_gateway_resour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783080"/>
            <a:ext cx="4937760" cy="225380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17920" y="4114800"/>
            <a:ext cx="53035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ws_cloudwatch_lo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4251960"/>
            <a:ext cx="4937760" cy="22449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SageMaker &amp; Bedrock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45720"/>
          </a:xfrm>
          <a:prstGeom prst="rect">
            <a:avLst/>
          </a:prstGeom>
          <a:solidFill>
            <a:srgbClr val="E50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Model experimentation and Generative AI exploration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5303520" cy="47548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8BDF8"/>
                </a:solidFill>
                <a:latin typeface="Calibri"/>
              </a:defRPr>
            </a:pPr>
            <a:r>
              <a:t>Amazon SageMaker — Notebook Environment</a:t>
            </a:r>
          </a:p>
        </p:txBody>
      </p:sp>
      <p:pic>
        <p:nvPicPr>
          <p:cNvPr id="7" name="Picture 6" descr="aws_sagemaker_notebo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03120"/>
            <a:ext cx="4937760" cy="213935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17920" y="1645920"/>
            <a:ext cx="5303520" cy="475488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916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8BDF8"/>
                </a:solidFill>
                <a:latin typeface="Calibri"/>
              </a:defRPr>
            </a:pPr>
            <a:r>
              <a:t>Amazon Bedrock — Foundation Model Access</a:t>
            </a:r>
          </a:p>
        </p:txBody>
      </p:sp>
      <p:pic>
        <p:nvPicPr>
          <p:cNvPr id="10" name="Picture 9" descr="aws_bedrock_acc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103120"/>
            <a:ext cx="4937760" cy="22191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Interactive Streamlit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45720"/>
          </a:xfrm>
          <a:prstGeom prst="rect">
            <a:avLst/>
          </a:prstGeom>
          <a:solidFill>
            <a:srgbClr val="E50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Live analytics and prediction interface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5486400" cy="484632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91640"/>
            <a:ext cx="5120640" cy="231609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217920" y="1554480"/>
            <a:ext cx="5303520" cy="228600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ive_predi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91640"/>
            <a:ext cx="4937760" cy="258430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217920" y="4023360"/>
            <a:ext cx="5303520" cy="237744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entiment_analys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4160520"/>
            <a:ext cx="4937760" cy="263626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Challenges &amp; Solutions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45720"/>
          </a:xfrm>
          <a:prstGeom prst="rect">
            <a:avLst/>
          </a:prstGeom>
          <a:solidFill>
            <a:srgbClr val="E50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5303520" cy="1280160"/>
          </a:xfrm>
          <a:prstGeom prst="roundRect">
            <a:avLst/>
          </a:prstGeom>
          <a:solidFill>
            <a:srgbClr val="32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50A35"/>
                </a:solidFill>
                <a:latin typeface="Calibri"/>
              </a:defRPr>
            </a:pPr>
            <a:r>
              <a:t>⚠ 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4028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Lambda package size limits with large ML models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303520" cy="1280160"/>
          </a:xfrm>
          <a:prstGeom prst="roundRect">
            <a:avLst/>
          </a:prstGeom>
          <a:solidFill>
            <a:srgbClr val="143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Calibri"/>
              </a:defRPr>
            </a:pPr>
            <a:r>
              <a:t>✅ 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24028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Serialized models to S3; loaded dynamically at runtime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383280"/>
            <a:ext cx="5303520" cy="1280160"/>
          </a:xfrm>
          <a:prstGeom prst="roundRect">
            <a:avLst/>
          </a:prstGeom>
          <a:solidFill>
            <a:srgbClr val="32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4747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50A35"/>
                </a:solidFill>
                <a:latin typeface="Calibri"/>
              </a:defRPr>
            </a:pPr>
            <a:r>
              <a:t>⚠  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947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CORS configuration blocking frontend requests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383280"/>
            <a:ext cx="5303520" cy="1280160"/>
          </a:xfrm>
          <a:prstGeom prst="roundRect">
            <a:avLst/>
          </a:prstGeom>
          <a:solidFill>
            <a:srgbClr val="143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4747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Calibri"/>
              </a:defRPr>
            </a:pPr>
            <a:r>
              <a:t>✅  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79476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Explicit Access-Control-Allow-Origin headers in Lambda proxy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937760"/>
            <a:ext cx="5303520" cy="1280160"/>
          </a:xfrm>
          <a:prstGeom prst="roundRect">
            <a:avLst/>
          </a:prstGeom>
          <a:solidFill>
            <a:srgbClr val="32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0292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50A35"/>
                </a:solidFill>
                <a:latin typeface="Calibri"/>
              </a:defRPr>
            </a:pPr>
            <a:r>
              <a:t>⚠  CHALLENGE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34924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Ensuring professional GenAI output quality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937760"/>
            <a:ext cx="5303520" cy="1280160"/>
          </a:xfrm>
          <a:prstGeom prst="roundRect">
            <a:avLst/>
          </a:prstGeom>
          <a:solidFill>
            <a:srgbClr val="143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50292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DE80"/>
                </a:solidFill>
                <a:latin typeface="Calibri"/>
              </a:defRPr>
            </a:pPr>
            <a:r>
              <a:t>✅  SOLUTION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34924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BD5E1"/>
                </a:solidFill>
                <a:latin typeface="Calibri"/>
              </a:defRPr>
            </a:pPr>
            <a:r>
              <a:t>Extensive prompt engineering with BA-expert persona context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Business Impact &amp; Future Enhancements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828800" cy="45720"/>
          </a:xfrm>
          <a:prstGeom prst="rect">
            <a:avLst/>
          </a:prstGeom>
          <a:solidFill>
            <a:srgbClr val="E50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2057400" cy="17373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8BDF8"/>
                </a:solidFill>
                <a:latin typeface="Calibri"/>
              </a:defRPr>
            </a:pPr>
            <a:r>
              <a:t>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51460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Faster Triage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88036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Automated analysis</a:t>
            </a:r>
            <a:br/>
            <a:r>
              <a:t>reduces manual effort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828800"/>
            <a:ext cx="2057400" cy="17373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2011680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8BDF8"/>
                </a:solidFill>
                <a:latin typeface="Calibri"/>
              </a:defRPr>
            </a:pPr>
            <a:r>
              <a:t>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251460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Customer Loyalty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288036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Timely, personalized</a:t>
            </a:r>
            <a:br/>
            <a:r>
              <a:t>recovery actions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1828800"/>
            <a:ext cx="2057400" cy="17373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0" y="2011680"/>
            <a:ext cx="1508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8BDF8"/>
                </a:solidFill>
                <a:latin typeface="Calibri"/>
              </a:defRPr>
            </a:pPr>
            <a:r>
              <a:t>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2514600"/>
            <a:ext cx="1783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Scalability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2880360"/>
            <a:ext cx="1783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Serverless architecture</a:t>
            </a:r>
            <a:br/>
            <a:r>
              <a:t>scales on demand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18288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Calibri"/>
              </a:defRPr>
            </a:pPr>
            <a:r>
              <a:t>Future Roadmap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228600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→  Fine-tune custom LLMs on BA resolution data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→  Implement IaC with Terraform / CloudFormation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→  Direct CRM integration for automated ticket tagging</a:t>
            </a:r>
          </a:p>
          <a:p>
            <a:pPr>
              <a:spcAft>
                <a:spcPts val="800"/>
              </a:spcAft>
              <a:defRPr sz="1400">
                <a:solidFill>
                  <a:srgbClr val="CBD5E1"/>
                </a:solidFill>
                <a:latin typeface="Calibri"/>
              </a:defRPr>
            </a:pPr>
            <a:r>
              <a:t>→  Real-time streaming with Amazon Kinesis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50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3716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286000"/>
            <a:ext cx="2103120" cy="45720"/>
          </a:xfrm>
          <a:prstGeom prst="rect">
            <a:avLst/>
          </a:prstGeom>
          <a:solidFill>
            <a:srgbClr val="E50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0" y="2743200"/>
            <a:ext cx="5760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  ✓  AWS serverless infrastructure provisioned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  ✓  NLP and ML models integrated for predictive analytics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  ✓  Generative AI explored via Amazon Bedrock</a:t>
            </a:r>
          </a:p>
          <a:p>
            <a:pPr>
              <a:spcAft>
                <a:spcPts val="800"/>
              </a:spcAft>
              <a:defRPr sz="1600">
                <a:solidFill>
                  <a:srgbClr val="CBD5E1"/>
                </a:solidFill>
                <a:latin typeface="Calibri"/>
              </a:defRPr>
            </a:pPr>
            <a:r>
              <a:t>  ✓  Interactive Streamlit dashboard delivered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0292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8BDF8"/>
                </a:solidFill>
                <a:latin typeface="Calibri"/>
              </a:defRPr>
            </a:pPr>
            <a:r>
              <a:t>github.com/gurroopsingh/british-airways-ai-csat-system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557784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Calibri"/>
              </a:defRPr>
            </a:pPr>
            <a:r>
              <a:t>Gurroop Singh  •  Build AI with AWS  •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